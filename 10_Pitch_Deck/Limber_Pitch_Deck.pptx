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Global market ($B)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$B</c:v>
                </c:pt>
              </c:strCache>
            </c:strRef>
          </c:tx>
          <c:spPr>
            <a:solidFill>
              <a:srgbClr val="3B7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</c:v>
                  </c:pt>
                  <c:pt idx="1">
                    <c:v>SAM</c:v>
                  </c:pt>
                  <c:pt idx="2">
                    <c:v>SOM (Yr-3)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</c:v>
                </c:pt>
                <c:pt idx="1">
                  <c:v>8.8</c:v>
                </c:pt>
                <c:pt idx="2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3-Year revenue build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$M</c:v>
                </c:pt>
              </c:strCache>
            </c:strRef>
          </c:tx>
          <c:spPr>
            <a:solidFill>
              <a:srgbClr val="3B7E73"/>
            </a:solidFill>
            <a:ln w="38100" cap="flat">
              <a:solidFill>
                <a:srgbClr val="3B7E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7E73"/>
              </a:solidFill>
              <a:ln w="9525" cap="flat">
                <a:solidFill>
                  <a:srgbClr val="3B7E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</c:v>
                </c:pt>
                <c:pt idx="1">
                  <c:v>29.1</c:v>
                </c:pt>
                <c:pt idx="2">
                  <c:v>103.4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303520" cy="5303520"/>
          </a:xfrm>
          <a:prstGeom prst="ellipse">
            <a:avLst/>
          </a:prstGeom>
          <a:solidFill>
            <a:srgbClr val="3B7E7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383280"/>
            <a:ext cx="3840480" cy="3840480"/>
          </a:xfrm>
          <a:prstGeom prst="ellipse">
            <a:avLst/>
          </a:prstGeom>
          <a:solidFill>
            <a:srgbClr val="6BAF7A">
              <a:alpha val="3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 of a</a:t>
            </a:r>
            <a:endParaRPr lang="en-US" sz="4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adaptable mind.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global, neuroplasticity-core daily practice that trains your brain the way the science actually says it changes — and refuses the claims the evidence won't support.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Research → Strategy → Personas → Flows → Prototype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67028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670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huge, fast market — poisoned by overclaiming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$9.94B→22.7B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apps, ~18% CAGR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MarketsandMarkets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~$53B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0215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neurotech by 2034 (~13–14%)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3101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Precedence/Fortune BI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55→139M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9107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dementia (2050)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3101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Disease Intl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15400" y="17373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15400" y="1874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61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79992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fine that defined the category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33101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Lumosity, 2016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14342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0416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category's defining failure is dishonesty.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games over-promise (far-transfer to real-world cognition is null). Wellness apps ride a neuroscience halo they can't back.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these apps are abandoned within 100 days. The market is starved of a credible, integrated, HONEST option.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Neuroplasticity is real — but gated, specific, and slow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changes across life, but only under the right conditions. That gives an ownable, defensible recipe.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/ deliberate practice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passive exposure doesn't rewire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3101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BAF7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3128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Aerobic exercise → BDNF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3128" y="28163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LTP threshold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53128" y="33101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BAF7A"/>
          </a:solidFill>
          <a:ln/>
        </p:spPr>
      </p:sp>
      <p:sp>
        <p:nvSpPr>
          <p:cNvPr id="15" name="Text 13"/>
          <p:cNvSpPr/>
          <p:nvPr/>
        </p:nvSpPr>
        <p:spPr>
          <a:xfrm>
            <a:off x="4453128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55280" y="210312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56448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&amp; spaced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6448" y="28163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consolidation happens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6448" y="33101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BAF7A"/>
          </a:solidFill>
          <a:ln/>
        </p:spPr>
      </p:sp>
      <p:sp>
        <p:nvSpPr>
          <p:cNvPr id="20" name="Text 18"/>
          <p:cNvSpPr/>
          <p:nvPr/>
        </p:nvSpPr>
        <p:spPr>
          <a:xfrm>
            <a:off x="8156448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regulation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599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cortisol closes the window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" y="50932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BAF7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38862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53128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53128" y="4599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Dopamine primes encoding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53128" y="50932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BAF7A"/>
          </a:solidFill>
          <a:ln/>
        </p:spPr>
      </p:sp>
      <p:sp>
        <p:nvSpPr>
          <p:cNvPr id="30" name="Text 28"/>
          <p:cNvSpPr/>
          <p:nvPr/>
        </p:nvSpPr>
        <p:spPr>
          <a:xfrm>
            <a:off x="4453128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55280" y="38862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BEEE9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56448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Mindfulness structure / 'rewiring'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56448" y="4599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in RCT; meta-analysis retracted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56448" y="509320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C0614B"/>
          </a:solidFill>
          <a:ln/>
        </p:spPr>
      </p:sp>
      <p:sp>
        <p:nvSpPr>
          <p:cNvPr id="35" name="Text 33"/>
          <p:cNvSpPr/>
          <p:nvPr/>
        </p:nvSpPr>
        <p:spPr>
          <a:xfrm>
            <a:off x="8156448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21992" cy="292608"/>
          </a:xfrm>
          <a:prstGeom prst="roundRect">
            <a:avLst>
              <a:gd name="adj" fmla="val 50000"/>
            </a:avLst>
          </a:prstGeom>
          <a:solidFill>
            <a:srgbClr val="1E3A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21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TRANSLATIONAL BACKBONE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Kleim &amp; Jones' 10 Principles → the Limber recipe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most-cited framework for turning plasticity science into design. Limber is built on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or lose 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148840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&amp; improve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(train the named skill)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990088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29900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matters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831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matters (effort)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831336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3831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matters (spacing)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672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Salience matters (meaning)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4672584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4672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matters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513832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5513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Transference (≠ far transfer)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5513832"/>
            <a:ext cx="457200" cy="45720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5513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(bad habits compete)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561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honest loop: Prime → Train → Consolidate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109728"/>
          </a:xfrm>
          <a:prstGeom prst="rect">
            <a:avLst/>
          </a:prstGeom>
          <a:solidFill>
            <a:srgbClr val="3B7E7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Prime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window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state + attention, tied to a personally-meaningful goal.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5072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783080"/>
            <a:ext cx="3474720" cy="109728"/>
          </a:xfrm>
          <a:prstGeom prst="rect">
            <a:avLst/>
          </a:prstGeom>
          <a:solidFill>
            <a:srgbClr val="6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A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Train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the change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85292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specific, adaptive session held in the ~85% challenge zone.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08392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955280" y="178308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55280" y="1783080"/>
            <a:ext cx="3474720" cy="109728"/>
          </a:xfrm>
          <a:prstGeom prst="rect">
            <a:avLst/>
          </a:prstGeom>
          <a:solidFill>
            <a:srgbClr val="C99A4E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Consolidate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83880" y="2395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it 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2852928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review + sleep + reflection — where change sticks.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14342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around the loop: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lifestyle levers (move · sleep · stress · novelty) as first-class plasticity inputs · honest baselines vs your own data · adaptive difficulty · personalization for individual variability · an evidence library of what we will and won't claim.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global segments, one shared need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39112"/>
            <a:ext cx="777240" cy="777240"/>
          </a:xfrm>
          <a:prstGeom prst="ellipse">
            <a:avLst/>
          </a:prstGeom>
          <a:solidFill>
            <a:srgbClr val="3B7E7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39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Ryo · 34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386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(beachhead)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rigorous, measurable edge — allergic to hype.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3128" y="2039112"/>
            <a:ext cx="777240" cy="777240"/>
          </a:xfrm>
          <a:prstGeom prst="ellipse">
            <a:avLst/>
          </a:prstGeom>
          <a:solidFill>
            <a:srgbClr val="6BA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2039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Margaret · 62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2386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Worried-well aging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Dementia-anxious; needs credible, simple, doctor-aligned.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56448" y="2039112"/>
            <a:ext cx="777240" cy="777240"/>
          </a:xfrm>
          <a:prstGeom prst="ellipse">
            <a:avLst/>
          </a:prstGeom>
          <a:solidFill>
            <a:srgbClr val="C99A4E"/>
          </a:solidFill>
          <a:ln/>
        </p:spPr>
      </p:sp>
      <p:sp>
        <p:nvSpPr>
          <p:cNvPr id="19" name="Text 17"/>
          <p:cNvSpPr/>
          <p:nvPr/>
        </p:nvSpPr>
        <p:spPr>
          <a:xfrm>
            <a:off x="8156448" y="2039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5256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 · 22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0" y="2386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memory for exams, affordable, offline.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142232"/>
            <a:ext cx="777240" cy="777240"/>
          </a:xfrm>
          <a:prstGeom prst="ellipse">
            <a:avLst/>
          </a:prstGeom>
          <a:solidFill>
            <a:srgbClr val="C0614B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142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45920" y="41422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· 45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45920" y="4489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6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(long-COVID)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graded, reimbursable cognitive recovery.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5196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53128" y="4142232"/>
            <a:ext cx="777240" cy="777240"/>
          </a:xfrm>
          <a:prstGeom prst="ellipse">
            <a:avLst/>
          </a:prstGeom>
          <a:solidFill>
            <a:srgbClr val="4A9B8E"/>
          </a:solidFill>
          <a:ln/>
        </p:spPr>
      </p:sp>
      <p:sp>
        <p:nvSpPr>
          <p:cNvPr id="31" name="Text 29"/>
          <p:cNvSpPr/>
          <p:nvPr/>
        </p:nvSpPr>
        <p:spPr>
          <a:xfrm>
            <a:off x="4453128" y="4142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49240" y="41422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 · 52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4489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as part of her healthspan stack; wants integration.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55280" y="388620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56448" y="4142232"/>
            <a:ext cx="777240" cy="77724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37" name="Text 35"/>
          <p:cNvSpPr/>
          <p:nvPr/>
        </p:nvSpPr>
        <p:spPr>
          <a:xfrm>
            <a:off x="8156448" y="4142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52560" y="41422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Dana · 43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52560" y="44897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buyer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Daily-used, ROI-provable, privacy-safe cognitive wellbeing.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67512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Sized honestly — bottom-up, not headline TAM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783080"/>
            <a:ext cx="4754880" cy="4023360"/>
          </a:xfrm>
          <a:prstGeom prst="roundRect">
            <a:avLst>
              <a:gd name="adj" fmla="val 2273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866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86600" y="242316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$58B — 730M cognitively-concerned digital adults × $80/yr.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$8.8B — income/motivation-qualified; aligns with the cited mental-health-app market.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~$103M — bottom-up Year-3 revenue build, not a top-down slice.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NA optimizers/longevity (high WTP, reward honesty).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Consumer-led, B2B-leveraged, evidence-credible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82880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0372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0" y="19659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limited loop (growth)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278892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0372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0" y="2926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$12.99/mo · $89/yr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74904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03720" y="3886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0" y="3886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$19.99/mo + coaching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47091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14342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+ DiGA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0" y="48463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$4–8 PEPM · EU reimbursement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75120" y="5806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Hardware/biofeedback attach optional. B2B is the ARPU multiplier; DiGA adds credibility + reimbursement.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honest, integrated middle no one owns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2194560"/>
            <a:ext cx="0" cy="3383280"/>
          </a:xfrm>
          <a:prstGeom prst="line">
            <a:avLst/>
          </a:prstGeom>
          <a:noFill/>
          <a:ln w="19050">
            <a:solidFill>
              <a:srgbClr val="E0DD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886200"/>
            <a:ext cx="4937760" cy="0"/>
          </a:xfrm>
          <a:prstGeom prst="line">
            <a:avLst/>
          </a:prstGeom>
          <a:noFill/>
          <a:ln w="19050">
            <a:solidFill>
              <a:srgbClr val="E0D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623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/ overclaim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Evidence-honest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Integrated 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452628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700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Calm/Headspace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333756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BrainHQ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411480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4288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4892040"/>
            <a:ext cx="182880" cy="182880"/>
          </a:xfrm>
          <a:prstGeom prst="ellipse">
            <a:avLst/>
          </a:prstGeom>
          <a:solidFill>
            <a:srgbClr val="6B7B7A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5065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EndeavorRx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74920" y="2468880"/>
            <a:ext cx="384048" cy="384048"/>
          </a:xfrm>
          <a:prstGeom prst="ellipse">
            <a:avLst/>
          </a:prstGeom>
          <a:solidFill>
            <a:srgbClr val="C99A4E"/>
          </a:solidFill>
          <a:ln w="25400">
            <a:solidFill>
              <a:srgbClr val="14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LIMBER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178308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only Limber does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42316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the FULL plasticity stack (practice + lifestyle levers)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~85% challenge zone (the validated dose)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progress vs your own baseline — no leaderboards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library: what we will &amp; won't claim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to individual variability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World-class, accessible, global UX + optional DiGA track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trust first — then scale through employers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932688"/>
          </a:xfrm>
          <a:prstGeom prst="rect">
            <a:avLst/>
          </a:prstGeom>
          <a:solidFill>
            <a:srgbClr val="3B7E7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928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Creator &amp; community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Science/longevity creators, podcasts, communities. Honesty earns this audience. Lowest-CAC, highest-trust.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6492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34640"/>
            <a:ext cx="109728" cy="932688"/>
          </a:xfrm>
          <a:prstGeom prst="rect">
            <a:avLst/>
          </a:prstGeom>
          <a:solidFill>
            <a:srgbClr val="6BAF7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4436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Employer / B2B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Cognitive-wellbeing via brokers (~17% CAGR channel); PEPM fixes consumer ARPU limits.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6492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886200"/>
            <a:ext cx="109728" cy="932688"/>
          </a:xfrm>
          <a:prstGeom prst="rect">
            <a:avLst/>
          </a:prstGeom>
          <a:solidFill>
            <a:srgbClr val="C99A4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9592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Wearables + DiGA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977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Oura/Apple integrations for distribution; EU DiGA for credibility + reimbursement.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178308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F6F4EE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7E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AARRR — retention is the crux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0684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+ communities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309981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06840" y="309981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before signup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3776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06840" y="377647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+ ethical streaks + coaching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0" y="445312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06840" y="4453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progress; challenges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512978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06840" y="512978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Plus/Pro + B2B + DiGA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88820" cy="292608"/>
          </a:xfrm>
          <a:prstGeom prst="roundRect">
            <a:avLst>
              <a:gd name="adj" fmla="val 50000"/>
            </a:avLst>
          </a:prstGeom>
          <a:solidFill>
            <a:srgbClr val="EA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88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NAME, NOT HIDE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risk register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Far-transfer / overclaiming (FTC)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20640" y="2084832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C0614B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2084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66560" y="1874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policy hard-wired; near-transfer + lifestyle only; legal review; cite everything.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5351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Adherence (~70% churn)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20640" y="3163824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C0614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0" y="295351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progress, ethical streaks, coaching, meaning-tether; prove in pilot.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4106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3250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Efficacy vs BrainHQ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120640" y="4242816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C99A4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4242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66560" y="403250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publish the evidence program early; honesty as the wedge.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2005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11149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DTx commercial trap (Pear/Akili)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120640" y="5321808"/>
            <a:ext cx="1463040" cy="365760"/>
          </a:xfrm>
          <a:prstGeom prst="roundRect">
            <a:avLst>
              <a:gd name="adj" fmla="val 45000"/>
            </a:avLst>
          </a:prstGeom>
          <a:solidFill>
            <a:srgbClr val="C99A4E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5321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51114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consumer/B2B; DiGA only where reimbursement is real.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· Capstone Market &amp; Product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3B7E73">
              <a:alpha val="4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6BAF7A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thesis, in one 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the brain the way it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changes — honestly.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Neuroplasticity at the core · global · evidence-honest as the moat · world-class, accessible UX · reviewed against the Excellent rubric.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neuroplasticity science core · global market dossier · strategy · TAM/SAM/SOM + BMC · personas + empathy maps · IA &amp; flows · interactive prototype · competitor analysis · BRD · GTM · this deck.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Limber — The science of a more adaptable mind</dc:title>
  <dc:subject>PptxGenJS Presentation</dc:subject>
  <dc:creator>Limber Capstone</dc:creator>
  <cp:lastModifiedBy>Limber Capstone</cp:lastModifiedBy>
  <cp:revision>1</cp:revision>
  <dcterms:created xsi:type="dcterms:W3CDTF">2026-06-11T17:34:37Z</dcterms:created>
  <dcterms:modified xsi:type="dcterms:W3CDTF">2026-06-11T17:34:37Z</dcterms:modified>
</cp:coreProperties>
</file>