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0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405B"/>
                </a:solidFill>
                <a:latin typeface="Arial"/>
              </a:rPr>
              <a:t>India market (₹ Crore, log-scale reality)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31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 (all reachable)</c:v>
                  </c:pt>
                  <c:pt idx="1">
                    <c:v>SAM (serviceable)</c:v>
                  </c:pt>
                  <c:pt idx="2">
                    <c:v>SOM (Year-3)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32600</c:v>
                </c:pt>
                <c:pt idx="1">
                  <c:v>10000</c:v>
                </c:pt>
                <c:pt idx="2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431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05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405B"/>
                </a:solidFill>
                <a:latin typeface="Arial"/>
              </a:rPr>
              <a:t>3-Year revenue build (₹ Cr)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₹ Cr</c:v>
                </c:pt>
              </c:strCache>
            </c:strRef>
          </c:tx>
          <c:spPr>
            <a:solidFill>
              <a:srgbClr val="50808E"/>
            </a:solidFill>
            <a:ln w="38100" cap="flat">
              <a:solidFill>
                <a:srgbClr val="5080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31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808E"/>
              </a:solidFill>
              <a:ln w="9525" cap="flat">
                <a:solidFill>
                  <a:srgbClr val="5080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15.4</c:v>
                </c:pt>
                <c:pt idx="2">
                  <c:v>40.6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431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5080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84B59F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सुकून · SUKOON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productivity for India's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stressed minds.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41148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your head first — then do the one thing that matters. An India-first, evidence-backed product built on the neuroscience of why calm comes before focus.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Market Research → Strategy → Personas → Flows → Prototype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nation under load — and almost no one is reached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live with a mental health condition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Lancet/GBD, WHO India 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0215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gap for common mental disorders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NMHS / NIMHANS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9107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psychiatrists per 100,000 (WHO min ~1)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Standard 2025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1540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7999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employees show burnout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the apps that exist don't stick.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wellness/productivity apps are abandoned within 100 days (JMIR 2024). 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&amp; Headspace downloads are sharply off their 2018 peaks. 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top-10 mental-health startups booked only ~₹100 Cr combined in FY24 — demand is huge, but the model, not the need, is the constraint.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category leaves the same wound open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109728"/>
          </a:xfrm>
          <a:prstGeom prst="rect">
            <a:avLst/>
          </a:prstGeom>
          <a:solidFill>
            <a:srgbClr val="C058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productivity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 · Notion · TickTick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tasks turn red → guilt, emotional loops, burnout.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783080"/>
            <a:ext cx="3474720" cy="10972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wellness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80560" y="2542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Headspace · Finch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3337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 a vacuum — your to-do list is still waiting after you meditate.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55280" y="178308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0" y="1783080"/>
            <a:ext cx="3474720" cy="109728"/>
          </a:xfrm>
          <a:prstGeom prst="rect">
            <a:avLst/>
          </a:prstGeom>
          <a:solidFill>
            <a:srgbClr val="E9A178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83880" y="25420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Sunsama · Motion ·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A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33375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excludes; complex setup overwhelms; rigid schedules break.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3D405B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closes the loop between your real workload and a well-timed, evidence-based way to reset. That gap is Sukoon.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apps ask “what do you want to do?”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Sukoon asks “how heavy is today?”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949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78608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45059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day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8529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win + a focus sprint.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6949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77647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 day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41788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head first (brain-dump → shred), then surface the ONE 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6949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5230368"/>
            <a:ext cx="566928" cy="566928"/>
          </a:xfrm>
          <a:prstGeom prst="ellipse">
            <a:avLst/>
          </a:prstGeom>
          <a:solidFill>
            <a:srgbClr val="E9A178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51023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day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55046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list. Offer a “Bare-Minimum Day.” Validate, don't guilt.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26680" y="2286000"/>
            <a:ext cx="3886200" cy="3886200"/>
          </a:xfrm>
          <a:prstGeom prst="roundRect">
            <a:avLst>
              <a:gd name="adj" fmla="val 235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defensible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2926080"/>
            <a:ext cx="3429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calendar — a 5-sec check-in (corporate OAuth is often blocked).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flywheel — what works for which load pattern, for Indian users.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human-care escalation layer platforms won't own.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Stigma-safe surface with an employer data firewall.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4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11096" cy="292608"/>
          </a:xfrm>
          <a:prstGeom prst="roundRect">
            <a:avLst>
              <a:gd name="adj" fmla="val 50000"/>
            </a:avLst>
          </a:prstGeom>
          <a:solidFill>
            <a:srgbClr val="2C31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NEUROSCIENCE SPINE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isn't a “nice to have.” It's the precondition for focus.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 structurally shrinks the hippocampus &amp; prefrontal cortex and grows the amygdala (McEwen 2016). The brain's learning window literally closes. So the order matters: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2C314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3474720" cy="10972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REGULATE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window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Cyclic-sigh breathing / NSDR shifts you parasympathetic, restoring the PFC.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RCT 2023 [Strong]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51960" y="24688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2C31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2468880"/>
            <a:ext cx="3474720" cy="109728"/>
          </a:xfrm>
          <a:prstGeom prst="rect">
            <a:avLst/>
          </a:prstGeom>
          <a:solidFill>
            <a:srgbClr val="69A297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A2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FOCUS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window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attended task — attention is the plasticity gate. Hide the rest.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5394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Kilgard &amp; Merzenich [Strong]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8096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55280" y="24688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2C314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2468880"/>
            <a:ext cx="3474720" cy="109728"/>
          </a:xfrm>
          <a:prstGeom prst="rect">
            <a:avLst/>
          </a:prstGeom>
          <a:solidFill>
            <a:srgbClr val="E9A178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CONSOLIDATE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8388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it 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8388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Close-the-loop reflection + spaced review + sleep — where change sticks.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5394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sleep [Strong]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we say “practice builds mental habits,” never “rewires your brain in 21 days.” Lumosity paid a $2M FTC fine for over-claiming — that's our anti-pattern.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evidence-based personas — one shared trap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2075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Aarav · 21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6596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Placement-season student (beachhead)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8072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under exam/placement stress; needs a private way to start.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914400" cy="91440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9520" y="2075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Bhavna · 27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952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Burnt-out IT professional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8072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Meditates, then a to-do list undoes it; fears employer seeing her data.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965960" y="4224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Sunita · 34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65960" y="4590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working woman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65960" y="49560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minute; shared family phone; needs finishable 3-min resets.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251960"/>
            <a:ext cx="914400" cy="914400"/>
          </a:xfrm>
          <a:prstGeom prst="ellipse">
            <a:avLst/>
          </a:prstGeom>
          <a:solidFill>
            <a:srgbClr val="E9A17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9520" y="4224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Rahul · 41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89520" y="4590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A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wellbeing buyer (B2B payer)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49560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daily-used, ROI-provable, privacy-safe wellbeing.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calm loop, built for a heavy 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heavy is today?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State-gate that adapts the whole session — no login, no streak to protect.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2039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Brain-dump + Shred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98848" y="2560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the racing mind into a private space, then literally shred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7830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0" y="2039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important thing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02168" y="2560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 single task; hide the rest. AI gently extracts it from your venting.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Bare-Minimum Day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survival days, hide the list — water, one reply, rest. No guilt.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7492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+ sleep nudge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98848" y="45262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and protect sleep — where progress consolidates.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5528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808E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78240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02168" y="45262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Sub-clinical screener → warm handoff; crisis lines; stealth mode; data firewall.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 clickable, interactive prototype ships with this deck — all screens, real interactions.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market — sized honestly (bottom-up, not vendor TAM)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783080"/>
            <a:ext cx="4754880" cy="4023360"/>
          </a:xfrm>
          <a:prstGeom prst="roundRect">
            <a:avLst>
              <a:gd name="adj" fmla="val 2273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86600" y="24231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₹32,600 Cr  — 163M reachable users × ₹2,000 if all monetized.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₹10,000 Cr — urban, employer/campus-reachable.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₹41 Cr — modelled Year-3 revenue (bottom-up build).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vendor “TAM” ₹4,283 Cr vs ₹103 Cr actual top-10 startup revenue — we plan to the reality, not the headline.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Consumer-feeling, B2B2C-funded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D2C is brutal — paid cost-per-paying-user ≈ ₹133K. So D2C stays organic; employers &amp; campuses pay.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0312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21488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22585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225856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— growth/brand engine (organic only)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3063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3172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95360" y="317296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₹149/mo · ₹1,499/yr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39776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03720" y="40873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95360" y="408736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₹249/mo + à-la-carte counsellor ₹499/₹799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48920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3D405B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5001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(engine)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500176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₹400/employee/mo + utilization bonus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0" y="5897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≈ 56% of revenue from B2B (Teams + Campus). UPI single-push ₹49/wk as the entry rail.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Campus-first, then employers — the funnel feeds itself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93268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019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Campus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IIT/NIT/IIM placement-season; UGC counsellor mandate = institutional pull + payer. Fast 2-4 mo cycle.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943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109728" cy="932688"/>
          </a:xfrm>
          <a:prstGeom prst="rect">
            <a:avLst/>
          </a:prstGeom>
          <a:solidFill>
            <a:srgbClr val="69A29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5351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Employer EAP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926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engine. 86% of employees stressed; Re1→₹3-4 ROI; warm intros via alumni + CII.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943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86200"/>
            <a:ext cx="109728" cy="932688"/>
          </a:xfrm>
          <a:prstGeom prst="rect">
            <a:avLst/>
          </a:prstGeom>
          <a:solidFill>
            <a:srgbClr val="E9A17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050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Vernacular creators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97764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consume regional-language content; creators co-write in-app scenarios — low CAC + retention.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4846320" cy="4069080"/>
          </a:xfrm>
          <a:prstGeom prst="roundRect">
            <a:avLst>
              <a:gd name="adj" fmla="val 2247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AARRR funnel — retention is the crux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423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+ creators + ASO (Hindi)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30998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309981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“calm win” in &lt;3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7764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0" y="37764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+ human touchpoints (beat ~70% churn)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44531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0" y="4453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Bring-a-stressed-friend; ambassadors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51297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0" y="51297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Teams + campus + à-la-carte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unoccupied quadrant: India-contextual + balanced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2194560"/>
            <a:ext cx="0" cy="3383280"/>
          </a:xfrm>
          <a:prstGeom prst="line">
            <a:avLst/>
          </a:prstGeom>
          <a:noFill/>
          <a:ln w="19050">
            <a:solidFill>
              <a:srgbClr val="DD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886200"/>
            <a:ext cx="4937760" cy="0"/>
          </a:xfrm>
          <a:prstGeom prst="line">
            <a:avLst/>
          </a:prstGeom>
          <a:noFill/>
          <a:ln w="19050">
            <a:solidFill>
              <a:srgbClr val="DD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focus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More India-contextual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457200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45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Todoist/Notion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83480" y="466344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4837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Calm/Headspace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54680" y="411480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4288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Sunsama/Motion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Wysa/Amaha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01568" y="2743200"/>
            <a:ext cx="365760" cy="365760"/>
          </a:xfrm>
          <a:prstGeom prst="ellipse">
            <a:avLst/>
          </a:prstGeom>
          <a:solidFill>
            <a:srgbClr val="E9A178"/>
          </a:solidFill>
          <a:ln w="25400">
            <a:solidFill>
              <a:srgbClr val="3D4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SUKOON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78308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6F4EE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only Sukoon does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Workload-aware wellness loop (no calendar needed)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Brain-dump + Shred + adaptive “survival” mode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Neuroplasticity Regulate→Focus→Consolidate spine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+ scenario content; ₹149 anchor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mode + shared-device PIN + employer firewall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Responsible-AI: disclosed, anti-sycophant, crisis-escalating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88820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NAME, NOT HIDE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risk register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(category ~70% churn)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2084832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C0584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084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8745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+ human touchpoints + non-punitive design; prove via design-partner pilot before scaling.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535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encroachment (Google/MS)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0" y="3163824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E9A1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95351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 + human-care layer + India localization + integration-optional loop.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3250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D2C economics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0" y="4242816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E9A17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242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403250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B2B2C-funded; D2C organic-only; UPI single-push default.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2005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1149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4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safety &amp; DPDP/CDSCO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0" y="5321808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E9A17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5321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51114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Sub-clinical screener, crisis protocol, employer firewall, advisory board, no diagnostic claims.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Sukoon · Capstone Market &amp; Product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4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5080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463040"/>
            <a:ext cx="4572000" cy="4572000"/>
          </a:xfrm>
          <a:prstGeom prst="ellipse">
            <a:avLst/>
          </a:prstGeom>
          <a:solidFill>
            <a:srgbClr val="84B59F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wedge, in one 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load. Regulate first.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one focused thing.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at every stage · India-first · responsible by design · reviewed against the Excellent rubric.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research dossier · neuroplasticity layer · strategy · TAM/SAM/SOM + BMC · personas + empathy maps · IA &amp; user flows · interactive prototype · GTM &amp; funnel · this deck.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Sukoon — Calm Productivity for India</dc:title>
  <dc:subject>PptxGenJS Presentation</dc:subject>
  <dc:creator>Capstone — Sukoon</dc:creator>
  <cp:lastModifiedBy>Capstone — Sukoon</cp:lastModifiedBy>
  <cp:revision>1</cp:revision>
  <dcterms:created xsi:type="dcterms:W3CDTF">2026-06-11T15:56:45Z</dcterms:created>
  <dcterms:modified xsi:type="dcterms:W3CDTF">2026-06-11T15:56:45Z</dcterms:modified>
</cp:coreProperties>
</file>